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High-Performance Semantic Correspondence</a:t>
            </a:r>
          </a:p>
          <a:p>
            <a:r>
              <a:t>Project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Team: Osagie, Lapadula, Pugliese, Bellanca</a:t>
            </a:r>
          </a:p>
          <a:p>
            <a:r>
              <a:t>Course: Advanced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1. Introduction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Objective:</a:t>
            </a:r>
            <a:br/>
            <a:r>
              <a:t>- Establish dense semantic correspondences between image pairs of the same category but with varying appearance and pose.</a:t>
            </a:r>
            <a:br/>
            <a:br/>
            <a:r>
              <a:t>Challenges:</a:t>
            </a:r>
            <a:br/>
            <a:r>
              <a:t>- Large intra-class variations (shapes, textures).</a:t>
            </a:r>
            <a:br/>
            <a:r>
              <a:t>- Geometric distortions (viewpoint, scale).</a:t>
            </a:r>
            <a:br/>
            <a:r>
              <a:t>- Lack of vast supervised datasets limits full end-to-end training.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2. Framework &amp;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- PyTorch &amp; Torchvision: Core deep learning framework for tensor operations and image augmentation.</a:t>
            </a:r>
            <a:br/>
            <a:r>
              <a:t>- DINOv2 (facebookresearch): Pre-trained ViT backbone used to extract dense semantic features without supervision.</a:t>
            </a:r>
            <a:br/>
            <a:r>
              <a:t>- PEFT (Parameter-Efficient Fine-Tuning): Conceptual framework implementing LoRA and BitFit for lightweight adaptation.</a:t>
            </a:r>
            <a:br/>
            <a:r>
              <a:t>- Gradio: Used for creating an interactive, real-time web UI to test and demonstrate robustness dynamically.</a:t>
            </a:r>
            <a:br/>
            <a:r>
              <a:t>- Matplotlib &amp; Seaborn: Real-time academic plotting and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3. Methodology: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1. Feature Extraction: Images pass through frozen DINOv2 (ViT-B/14) at Layer 11.</a:t>
            </a:r>
            <a:br/>
            <a:r>
              <a:t>2. Dense Correlation Map: Cosine similarity is computed between source and target feature grids.</a:t>
            </a:r>
            <a:br/>
            <a:r>
              <a:t>3. Adaptive Window Mechanism: Hard-Argmax is unstable. We filter the top-K% similarities dynamically to isolate the relevant neighborhood.</a:t>
            </a:r>
            <a:br/>
            <a:r>
              <a:t>4. Temperature-Scaled Soft-Argmax: Computes the sub-pixel center of mass acting as a local regularizer.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4. Hyperparameters &amp;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- Learning Rate (1e-4): Found optimal via AdamW. Higher LRs disrupted the pre-trained space; lower LRs stalled.</a:t>
            </a:r>
            <a:br/>
            <a:r>
              <a:t>- LoRA Rank (r=16): Sweet spot balancing matrix expressiveness and parameter constraints (only 0.9M params).</a:t>
            </a:r>
            <a:br/>
            <a:r>
              <a:t>- Temp (T=0.05): Sharpens Soft-Argmax to prevent blur across background pixels, keeping sub-pixel interpolatability.</a:t>
            </a:r>
            <a:br/>
            <a:r>
              <a:t>- Masking (Alpha=0.1): Threshold to suppress matches with extreme uncertainty.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5. Zero-Shot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Evaluating off-the-shelf Foundation Models without fine-tuning.</a:t>
            </a:r>
            <a:br/>
            <a:r>
              <a:t>- DINOv2 strongly outperforms DINOv3 and SAM, proving its superior object-centric representation.</a:t>
            </a:r>
          </a:p>
        </p:txBody>
      </p:sp>
      <p:pic>
        <p:nvPicPr>
          <p:cNvPr id="4" name="Picture 3" descr="01_Baselines_S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6. Internal DINOv2 Dynamics (Layer-wise Analysis)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- Early layers (L4) focus on low-level textures, yielding poor semantic matches.</a:t>
            </a:r>
            <a:br/>
            <a:r>
              <a:t>- Middle layers (L8) begin capturing part-level features.</a:t>
            </a:r>
            <a:br/>
            <a:r>
              <a:t>- Deep layers (L11) represent high-level semantic concepts, maximizing PCK.</a:t>
            </a:r>
          </a:p>
        </p:txBody>
      </p:sp>
      <p:pic>
        <p:nvPicPr>
          <p:cNvPr id="4" name="Picture 3" descr="09_LayerWis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44805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7. Parameter-Efficient Fine-Tuning (SPair-71k)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Implementation of LoRA and BitFit to specialize DINOv2.</a:t>
            </a:r>
            <a:br/>
            <a:r>
              <a:t>- LoRA achieves ~80.5% PCK, doubling the baseline zero-shot performance.</a:t>
            </a:r>
            <a:br/>
            <a:r>
              <a:t>- BitFit is extremely competitive despite training only bias terms.</a:t>
            </a:r>
          </a:p>
        </p:txBody>
      </p:sp>
      <p:pic>
        <p:nvPicPr>
          <p:cNvPr id="4" name="Picture 3" descr="02_PEFT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8. Parameter Efficiency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- LoRA trains only 1.03% of the network (0.9M parameters).</a:t>
            </a:r>
            <a:br/>
            <a:r>
              <a:t>- BitFit trains a negligible 0.09% (82K parameters) yet yields 77.8% PCK, demonstrating incredible bias-driven adaptability.</a:t>
            </a:r>
          </a:p>
        </p:txBody>
      </p:sp>
      <p:pic>
        <p:nvPicPr>
          <p:cNvPr id="4" name="Picture 3" descr="08_Parameter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44805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9. Architecture Ablation: Adaptive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- Removing the Adaptive Window causes LoRA to drop ~3% PCK.</a:t>
            </a:r>
            <a:br/>
            <a:r>
              <a:t>- The adaptive boundary mechanism is critical to suppress background noise before computing the expected value.</a:t>
            </a:r>
          </a:p>
        </p:txBody>
      </p:sp>
      <p:pic>
        <p:nvPicPr>
          <p:cNvPr id="4" name="Picture 3" descr="03_Ablation_Adaptive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4800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10. Temperature Calibration (Soft-Argmax)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- T=0.01 (blue) behaves like Hard-Argmax, losing sub-pixel smoothness.</a:t>
            </a:r>
            <a:br/>
            <a:r>
              <a:t>- T=0.05 (green) is the calibrated sweet-spot for local regularization.</a:t>
            </a:r>
            <a:br/>
            <a:r>
              <a:t>- T&gt;=0.50 collapses the prediction into a uniform distribution.</a:t>
            </a:r>
          </a:p>
        </p:txBody>
      </p:sp>
      <p:pic>
        <p:nvPicPr>
          <p:cNvPr id="4" name="Picture 3" descr="07_Temperatur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11. Out-of-Distribution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- Testing on PF-Pascal without any re-training.</a:t>
            </a:r>
            <a:br/>
            <a:r>
              <a:t>- The finetuned models retain a massive +20% gain over exactly equivalent frozen baselines, proving they learned 'how to match' rather than memorizing domain.</a:t>
            </a:r>
          </a:p>
        </p:txBody>
      </p:sp>
      <p:pic>
        <p:nvPicPr>
          <p:cNvPr id="4" name="Picture 3" descr="04_Generalization_PFPas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12. Geometric Robustness (Rotation)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- Models degrade gracefully up to 90 degrees.</a:t>
            </a:r>
            <a:br/>
            <a:r>
              <a:t>- DINOv3 shows unique resilience at 45 but structurally shares rotation vulnerability (Absolute Positional Encoding).</a:t>
            </a:r>
          </a:p>
        </p:txBody>
      </p:sp>
      <p:pic>
        <p:nvPicPr>
          <p:cNvPr id="4" name="Picture 3" descr="06_Robustness_R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4800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13. 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Conclusions:</a:t>
            </a:r>
            <a:br/>
            <a:r>
              <a:t>- LoRA + Soft-Argmax is a highly effective pipeline for Semantic Corres.</a:t>
            </a:r>
            <a:br/>
            <a:r>
              <a:t>- Temperature scaling is essential for proper coordinate extraction.</a:t>
            </a:r>
            <a:br/>
            <a:br/>
            <a:r>
              <a:t>Future Work:</a:t>
            </a:r>
            <a:br/>
            <a:r>
              <a:t>- Integration of Inference-Time Augmentation (ITA) to solve rotation.</a:t>
            </a:r>
            <a:br/>
            <a:r>
              <a:t>- Exploration of multi-scale feature hierarchies for small scale matching.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